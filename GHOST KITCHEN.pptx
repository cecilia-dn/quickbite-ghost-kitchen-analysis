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  <p:sldMasterId id="2147483713" r:id="rId2"/>
  </p:sldMasterIdLst>
  <p:sldIdLst>
    <p:sldId id="256" r:id="rId3"/>
    <p:sldId id="266" r:id="rId4"/>
    <p:sldId id="268" r:id="rId5"/>
    <p:sldId id="273" r:id="rId6"/>
    <p:sldId id="27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2D"/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32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169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91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874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32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25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20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00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7032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8355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243453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6704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6175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517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200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35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208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159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885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913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65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9357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6483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7519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7708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267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1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43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59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6713" y="737441"/>
            <a:ext cx="5767280" cy="1166930"/>
          </a:xfrm>
        </p:spPr>
        <p:txBody>
          <a:bodyPr/>
          <a:lstStyle/>
          <a:p>
            <a:r>
              <a:rPr lang="en-CA" dirty="0" smtClean="0">
                <a:latin typeface="Agency FB" panose="020B0503020202020204" pitchFamily="34" charset="0"/>
              </a:rPr>
              <a:t>GHOST KITCHEN</a:t>
            </a:r>
            <a:endParaRPr lang="en-CA" dirty="0">
              <a:latin typeface="Agency FB" panose="020B05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3947" y="3160176"/>
            <a:ext cx="2835154" cy="542766"/>
          </a:xfrm>
        </p:spPr>
        <p:txBody>
          <a:bodyPr>
            <a:normAutofit/>
          </a:bodyPr>
          <a:lstStyle/>
          <a:p>
            <a:r>
              <a:rPr lang="en-CA" sz="1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FINDINGS</a:t>
            </a:r>
            <a:endParaRPr lang="en-CA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6712" y="612119"/>
            <a:ext cx="25857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 smtClean="0">
                <a:solidFill>
                  <a:srgbClr val="00B050"/>
                </a:solidFill>
              </a:rPr>
              <a:t>QUICKBITE</a:t>
            </a:r>
            <a:endParaRPr lang="en-CA" sz="1400" dirty="0">
              <a:solidFill>
                <a:srgbClr val="00B050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683947" y="5284960"/>
            <a:ext cx="2479974" cy="3979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CA" sz="1100" dirty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BY: CECILIA WANJIRU</a:t>
            </a:r>
            <a:endParaRPr lang="en-CA" sz="11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66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77800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dirty="0"/>
              <a:t> </a:t>
            </a:r>
          </a:p>
        </p:txBody>
      </p:sp>
      <p:sp>
        <p:nvSpPr>
          <p:cNvPr id="3" name="Shape 0"/>
          <p:cNvSpPr/>
          <p:nvPr/>
        </p:nvSpPr>
        <p:spPr>
          <a:xfrm>
            <a:off x="2977468" y="0"/>
            <a:ext cx="7065817" cy="55166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1"/>
          <p:cNvSpPr/>
          <p:nvPr/>
        </p:nvSpPr>
        <p:spPr>
          <a:xfrm>
            <a:off x="3189568" y="77082"/>
            <a:ext cx="6196258" cy="3536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Ghost Kitchen Performance 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921947"/>
              </p:ext>
            </p:extLst>
          </p:nvPr>
        </p:nvGraphicFramePr>
        <p:xfrm>
          <a:off x="1330540" y="882267"/>
          <a:ext cx="9914314" cy="149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721"/>
                <a:gridCol w="1049738"/>
                <a:gridCol w="1704587"/>
                <a:gridCol w="1674812"/>
                <a:gridCol w="1639662"/>
                <a:gridCol w="1278897"/>
                <a:gridCol w="1278897"/>
              </a:tblGrid>
              <a:tr h="476404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Location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Order Volume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Revenue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Fixed cost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Profit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Profit Margin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Growth</a:t>
                      </a:r>
                      <a:r>
                        <a:rPr lang="en-CA" sz="1400" baseline="0" dirty="0" smtClean="0"/>
                        <a:t> Rate</a:t>
                      </a:r>
                      <a:endParaRPr lang="en-CA" sz="1400" dirty="0"/>
                    </a:p>
                  </a:txBody>
                  <a:tcPr/>
                </a:tc>
              </a:tr>
              <a:tr h="335400">
                <a:tc>
                  <a:txBody>
                    <a:bodyPr/>
                    <a:lstStyle/>
                    <a:p>
                      <a:r>
                        <a:rPr lang="en-CA" sz="1400" dirty="0" err="1" smtClean="0"/>
                        <a:t>Kilimani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8,088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CA" sz="1200" u="none" strike="noStrike" dirty="0" smtClean="0">
                          <a:effectLst/>
                        </a:rPr>
                        <a:t> </a:t>
                      </a:r>
                      <a:r>
                        <a:rPr lang="en-CA" sz="1200" u="none" strike="noStrike" dirty="0" smtClean="0">
                          <a:effectLst/>
                        </a:rPr>
                        <a:t>          KES</a:t>
                      </a:r>
                      <a:r>
                        <a:rPr lang="en-CA" sz="1200" u="none" strike="noStrike" baseline="0" dirty="0" smtClean="0">
                          <a:effectLst/>
                        </a:rPr>
                        <a:t> </a:t>
                      </a:r>
                      <a:r>
                        <a:rPr lang="en-CA" sz="1200" u="none" strike="noStrike" dirty="0" smtClean="0">
                          <a:effectLst/>
                        </a:rPr>
                        <a:t>6.37M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200" u="none" strike="noStrike" dirty="0" smtClean="0">
                          <a:effectLst/>
                        </a:rPr>
                        <a:t>           KES</a:t>
                      </a:r>
                      <a:r>
                        <a:rPr lang="en-CA" sz="1200" u="none" strike="noStrike" baseline="0" dirty="0" smtClean="0">
                          <a:effectLst/>
                        </a:rPr>
                        <a:t> </a:t>
                      </a:r>
                      <a:r>
                        <a:rPr lang="en-CA" sz="1200" u="none" strike="noStrike" baseline="0" dirty="0" smtClean="0">
                          <a:effectLst/>
                        </a:rPr>
                        <a:t>2</a:t>
                      </a:r>
                      <a:r>
                        <a:rPr lang="en-CA" sz="1200" u="none" strike="noStrike" dirty="0" smtClean="0">
                          <a:effectLst/>
                        </a:rPr>
                        <a:t>.44M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KES 1.39M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21.9%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-1.2%</a:t>
                      </a:r>
                      <a:endParaRPr lang="en-CA" sz="1200" b="1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35400">
                <a:tc>
                  <a:txBody>
                    <a:bodyPr/>
                    <a:lstStyle/>
                    <a:p>
                      <a:r>
                        <a:rPr lang="en-CA" sz="1400" dirty="0" err="1" smtClean="0"/>
                        <a:t>Westlands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6,638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KES 4.75 M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KES 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2.73 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KES  179K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3.8%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1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-7.2%</a:t>
                      </a:r>
                      <a:endParaRPr lang="en-CA" sz="1200" b="1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04654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Eastleigh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6,637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KES  3.64M 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KES  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1.88M 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KES  403K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11.1%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1" u="none" strike="noStrike" kern="1200" dirty="0" smtClean="0">
                          <a:solidFill>
                            <a:srgbClr val="00642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33.6%</a:t>
                      </a:r>
                      <a:endParaRPr lang="en-CA" sz="1200" b="1" u="none" strike="noStrike" kern="1200" dirty="0">
                        <a:solidFill>
                          <a:srgbClr val="00642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1330540" y="2576944"/>
            <a:ext cx="9914314" cy="3113495"/>
            <a:chOff x="788954" y="2613310"/>
            <a:chExt cx="9914314" cy="3291840"/>
          </a:xfrm>
        </p:grpSpPr>
        <p:sp>
          <p:nvSpPr>
            <p:cNvPr id="7" name="Shape 2"/>
            <p:cNvSpPr/>
            <p:nvPr/>
          </p:nvSpPr>
          <p:spPr>
            <a:xfrm>
              <a:off x="788954" y="2613310"/>
              <a:ext cx="9914314" cy="3291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Shape 3"/>
            <p:cNvSpPr/>
            <p:nvPr/>
          </p:nvSpPr>
          <p:spPr>
            <a:xfrm>
              <a:off x="788955" y="2625734"/>
              <a:ext cx="9914313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2" name="Text 10"/>
          <p:cNvSpPr/>
          <p:nvPr/>
        </p:nvSpPr>
        <p:spPr>
          <a:xfrm>
            <a:off x="1357250" y="3025453"/>
            <a:ext cx="2902881" cy="2297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 err="1"/>
              <a:t>CFOs’decision</a:t>
            </a:r>
            <a:r>
              <a:rPr lang="en-CA" sz="1200" dirty="0"/>
              <a:t> of reallocating resources to </a:t>
            </a:r>
            <a:r>
              <a:rPr lang="en-CA" sz="1200" dirty="0" err="1"/>
              <a:t>killimani</a:t>
            </a:r>
            <a:r>
              <a:rPr lang="en-CA" sz="1200" dirty="0"/>
              <a:t> is not bad because the data proves that it generate the </a:t>
            </a:r>
            <a:r>
              <a:rPr lang="en-CA" sz="1200" b="1" dirty="0"/>
              <a:t>highest profit </a:t>
            </a:r>
            <a:r>
              <a:rPr lang="en-CA" sz="1200" dirty="0"/>
              <a:t>and margins(growth and profit </a:t>
            </a:r>
            <a:r>
              <a:rPr lang="en-CA" sz="1200" dirty="0" smtClean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 smtClean="0"/>
              <a:t>It </a:t>
            </a:r>
            <a:r>
              <a:rPr lang="en-CA" sz="1200" dirty="0"/>
              <a:t>has the slowest delivery time of </a:t>
            </a:r>
            <a:r>
              <a:rPr lang="en-CA" sz="1200" dirty="0" smtClean="0"/>
              <a:t>69 minutes </a:t>
            </a:r>
            <a:r>
              <a:rPr lang="en-CA" sz="1200" dirty="0"/>
              <a:t>a gap of </a:t>
            </a:r>
            <a:r>
              <a:rPr lang="en-CA" sz="1200" dirty="0" smtClean="0"/>
              <a:t>27minutes </a:t>
            </a:r>
            <a:r>
              <a:rPr lang="en-CA" sz="1200" dirty="0"/>
              <a:t>between its competitors.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9014065" y="2656121"/>
            <a:ext cx="142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smtClean="0">
                <a:solidFill>
                  <a:schemeClr val="bg1"/>
                </a:solidFill>
              </a:rPr>
              <a:t>Eastleigh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32812" y="2706631"/>
            <a:ext cx="142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 smtClean="0">
                <a:solidFill>
                  <a:schemeClr val="bg1"/>
                </a:solidFill>
              </a:rPr>
              <a:t>Westlands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08041" y="2706631"/>
            <a:ext cx="1420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 err="1" smtClean="0">
                <a:solidFill>
                  <a:schemeClr val="bg1"/>
                </a:solidFill>
              </a:rPr>
              <a:t>Kilimani</a:t>
            </a:r>
            <a:endParaRPr lang="en-CA" b="1" dirty="0">
              <a:solidFill>
                <a:schemeClr val="bg1"/>
              </a:solidFill>
            </a:endParaRPr>
          </a:p>
        </p:txBody>
      </p:sp>
      <p:sp>
        <p:nvSpPr>
          <p:cNvPr id="21" name="Text 10"/>
          <p:cNvSpPr/>
          <p:nvPr/>
        </p:nvSpPr>
        <p:spPr>
          <a:xfrm>
            <a:off x="4891733" y="3025453"/>
            <a:ext cx="2902881" cy="2297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/>
              <a:t>It costs more to run </a:t>
            </a:r>
            <a:r>
              <a:rPr lang="en-CA" sz="1200" dirty="0" err="1"/>
              <a:t>W</a:t>
            </a:r>
            <a:r>
              <a:rPr lang="en-CA" sz="1200" dirty="0" err="1" smtClean="0"/>
              <a:t>estlands</a:t>
            </a:r>
            <a:r>
              <a:rPr lang="en-CA" sz="1200" dirty="0" smtClean="0"/>
              <a:t> </a:t>
            </a:r>
            <a:r>
              <a:rPr lang="en-CA" sz="1200" dirty="0"/>
              <a:t>than </a:t>
            </a:r>
            <a:r>
              <a:rPr lang="en-CA" sz="1200" dirty="0" err="1"/>
              <a:t>K</a:t>
            </a:r>
            <a:r>
              <a:rPr lang="en-CA" sz="1200" dirty="0" err="1" smtClean="0"/>
              <a:t>ilimani</a:t>
            </a:r>
            <a:r>
              <a:rPr lang="en-CA" sz="1200" dirty="0" smtClean="0"/>
              <a:t> </a:t>
            </a:r>
            <a:r>
              <a:rPr lang="en-CA" sz="1200" dirty="0"/>
              <a:t>yet it makes </a:t>
            </a:r>
            <a:r>
              <a:rPr lang="en-CA" sz="1200" b="1" dirty="0"/>
              <a:t>less revenue</a:t>
            </a:r>
            <a:r>
              <a:rPr lang="en-CA" sz="1200" dirty="0"/>
              <a:t>. It has the </a:t>
            </a:r>
            <a:r>
              <a:rPr lang="en-CA" sz="1200" b="1" dirty="0"/>
              <a:t>lowest profit of KES </a:t>
            </a:r>
            <a:r>
              <a:rPr lang="en-CA" sz="1200" b="1" dirty="0" smtClean="0"/>
              <a:t>179K </a:t>
            </a:r>
            <a:r>
              <a:rPr lang="en-CA" sz="1200" dirty="0"/>
              <a:t>and </a:t>
            </a:r>
            <a:r>
              <a:rPr lang="en-CA" sz="1200" b="1" dirty="0"/>
              <a:t>lowest profit margin of 3.8</a:t>
            </a:r>
            <a:r>
              <a:rPr lang="en-CA" sz="1200" b="1" dirty="0" smtClean="0"/>
              <a:t>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 smtClean="0"/>
              <a:t>It </a:t>
            </a:r>
            <a:r>
              <a:rPr lang="en-CA" sz="1200" dirty="0"/>
              <a:t>is situated in an area that has the highest number of competitors </a:t>
            </a:r>
            <a:r>
              <a:rPr lang="en-CA" sz="1200" dirty="0" smtClean="0"/>
              <a:t>which </a:t>
            </a:r>
            <a:r>
              <a:rPr lang="en-CA" sz="1200" dirty="0"/>
              <a:t>might be contributing to its decline</a:t>
            </a:r>
          </a:p>
        </p:txBody>
      </p:sp>
      <p:sp>
        <p:nvSpPr>
          <p:cNvPr id="22" name="Text 10"/>
          <p:cNvSpPr/>
          <p:nvPr/>
        </p:nvSpPr>
        <p:spPr>
          <a:xfrm>
            <a:off x="8142558" y="2981057"/>
            <a:ext cx="2902881" cy="2297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/>
              <a:t>This is the only location with </a:t>
            </a:r>
            <a:r>
              <a:rPr lang="en-CA" sz="1200" b="1" dirty="0"/>
              <a:t>consistent growth</a:t>
            </a:r>
            <a:r>
              <a:rPr lang="en-CA" sz="1200" dirty="0"/>
              <a:t> across every metric every single month</a:t>
            </a:r>
            <a:r>
              <a:rPr lang="en-CA" sz="12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/>
              <a:t> </a:t>
            </a:r>
            <a:r>
              <a:rPr lang="en-US" sz="1200" dirty="0"/>
              <a:t>It </a:t>
            </a:r>
            <a:r>
              <a:rPr lang="en-US" sz="1200" dirty="0" err="1"/>
              <a:t>contributings</a:t>
            </a:r>
            <a:r>
              <a:rPr lang="en-US" sz="1200" dirty="0"/>
              <a:t> to </a:t>
            </a:r>
            <a:r>
              <a:rPr lang="en-US" sz="1200" b="1" dirty="0" smtClean="0"/>
              <a:t>20% </a:t>
            </a:r>
            <a:r>
              <a:rPr lang="en-US" sz="1200" b="1" dirty="0"/>
              <a:t>of the </a:t>
            </a:r>
            <a:r>
              <a:rPr lang="en-US" sz="1200" b="1" dirty="0" smtClean="0"/>
              <a:t>profit</a:t>
            </a:r>
            <a:r>
              <a:rPr lang="en-US" sz="1200" dirty="0" smtClean="0"/>
              <a:t>, which is </a:t>
            </a:r>
            <a:r>
              <a:rPr lang="en-CA" sz="1200" dirty="0" smtClean="0"/>
              <a:t>double </a:t>
            </a:r>
            <a:r>
              <a:rPr lang="en-CA" sz="1200" dirty="0"/>
              <a:t>than </a:t>
            </a:r>
            <a:r>
              <a:rPr lang="en-CA" sz="1200" dirty="0" smtClean="0"/>
              <a:t>what </a:t>
            </a:r>
            <a:r>
              <a:rPr lang="en-CA" sz="1200" dirty="0" err="1" smtClean="0"/>
              <a:t>Westlands</a:t>
            </a:r>
            <a:r>
              <a:rPr lang="en-CA" sz="1200" dirty="0" smtClean="0"/>
              <a:t> (9%) </a:t>
            </a:r>
            <a:r>
              <a:rPr lang="en-CA" sz="1200" dirty="0"/>
              <a:t>is generating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59118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50777" y="11253"/>
            <a:ext cx="5099733" cy="43830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3574976" y="80104"/>
            <a:ext cx="4730193" cy="26751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	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Eastleighs</a:t>
            </a:r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’ 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1680178" y="5224523"/>
            <a:ext cx="7682975" cy="866427"/>
            <a:chOff x="3274677" y="4645336"/>
            <a:chExt cx="6835373" cy="1005840"/>
          </a:xfrm>
        </p:grpSpPr>
        <p:sp>
          <p:nvSpPr>
            <p:cNvPr id="10" name="Shape 13"/>
            <p:cNvSpPr/>
            <p:nvPr/>
          </p:nvSpPr>
          <p:spPr>
            <a:xfrm>
              <a:off x="3274677" y="4645336"/>
              <a:ext cx="6835373" cy="1005840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FDE68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11" name="Text 16"/>
            <p:cNvSpPr/>
            <p:nvPr/>
          </p:nvSpPr>
          <p:spPr>
            <a:xfrm>
              <a:off x="3395161" y="4742631"/>
              <a:ext cx="6556794" cy="78138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i="1" dirty="0" smtClean="0"/>
                <a:t>Recommendation:</a:t>
              </a:r>
              <a:r>
                <a:rPr lang="en-US" sz="1100" dirty="0" smtClean="0"/>
                <a:t/>
              </a:r>
              <a:br>
                <a:rPr lang="en-US" sz="1100" dirty="0" smtClean="0"/>
              </a:br>
              <a:r>
                <a:rPr lang="en-US" sz="1100" b="1" dirty="0" smtClean="0"/>
                <a:t>Do not </a:t>
              </a:r>
              <a:r>
                <a:rPr lang="en-US" sz="1100" dirty="0" smtClean="0"/>
                <a:t>shut down </a:t>
              </a:r>
              <a:r>
                <a:rPr lang="en-US" sz="1100" dirty="0" err="1" smtClean="0"/>
                <a:t>Eastleigh</a:t>
              </a:r>
              <a:r>
                <a:rPr lang="en-US" sz="1100" dirty="0" smtClean="0"/>
                <a:t>. </a:t>
              </a:r>
              <a:r>
                <a:rPr lang="en-US" sz="1100" dirty="0" smtClean="0"/>
                <a:t>We should give </a:t>
              </a:r>
              <a:r>
                <a:rPr lang="en-US" sz="1100" dirty="0" err="1" smtClean="0"/>
                <a:t>Eastleigh</a:t>
              </a:r>
              <a:r>
                <a:rPr lang="en-US" sz="1100" dirty="0" smtClean="0"/>
                <a:t> 3 Months to see the change. Based on the current growth rate </a:t>
              </a:r>
              <a:r>
                <a:rPr lang="en-US" sz="1100" b="1" dirty="0" smtClean="0">
                  <a:solidFill>
                    <a:srgbClr val="00B050"/>
                  </a:solidFill>
                </a:rPr>
                <a:t>33.6%</a:t>
              </a:r>
              <a:r>
                <a:rPr lang="en-US" sz="1100" dirty="0" smtClean="0"/>
                <a:t>, it is possible to achieve targets of the numbe</a:t>
              </a:r>
              <a:r>
                <a:rPr lang="en-US" sz="1100" dirty="0" smtClean="0"/>
                <a:t>rs we set  for monthly orders then, we can reassess the data then</a:t>
              </a:r>
              <a:r>
                <a:rPr lang="en-US" sz="1100" dirty="0" smtClean="0"/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017864" y="731163"/>
            <a:ext cx="6786207" cy="4309373"/>
            <a:chOff x="1030904" y="778372"/>
            <a:chExt cx="3430889" cy="3294863"/>
          </a:xfrm>
        </p:grpSpPr>
        <p:sp>
          <p:nvSpPr>
            <p:cNvPr id="4" name="Rectangle 3"/>
            <p:cNvSpPr/>
            <p:nvPr/>
          </p:nvSpPr>
          <p:spPr>
            <a:xfrm>
              <a:off x="1030904" y="778372"/>
              <a:ext cx="3430889" cy="329486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66564" y="1150443"/>
              <a:ext cx="3334100" cy="1200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CA" sz="1200" dirty="0" smtClean="0"/>
                <a:t>The CFO is looking at the revenue and order volume only</a:t>
              </a:r>
              <a:br>
                <a:rPr lang="en-CA" sz="1200" dirty="0" smtClean="0"/>
              </a:br>
              <a:r>
                <a:rPr lang="en-CA" sz="1200" dirty="0" smtClean="0"/>
                <a:t>But the margins state otherwise. A profit margin of 11.1%, and the only </a:t>
              </a:r>
              <a:r>
                <a:rPr lang="en-CA" sz="1200" dirty="0"/>
                <a:t>location with </a:t>
              </a:r>
              <a:r>
                <a:rPr lang="en-CA" sz="1200" dirty="0" smtClean="0"/>
                <a:t>consistent growth.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CA" sz="1200" dirty="0" smtClean="0"/>
                <a:t>Profit: </a:t>
              </a:r>
              <a:r>
                <a:rPr lang="en-US" sz="1200" dirty="0"/>
                <a:t>which shows for a fact it is not bleeding money</a:t>
              </a:r>
              <a:r>
                <a:rPr lang="en-CA" sz="1200" dirty="0" smtClean="0"/>
                <a:t/>
              </a:r>
              <a:br>
                <a:rPr lang="en-CA" sz="1200" dirty="0" smtClean="0"/>
              </a:br>
              <a:r>
                <a:rPr lang="en-CA" sz="1200" dirty="0" smtClean="0"/>
                <a:t>	</a:t>
              </a:r>
              <a:r>
                <a:rPr lang="en-CA" sz="1200" b="1" dirty="0" smtClean="0"/>
                <a:t>Eastleigh: 403K</a:t>
              </a:r>
              <a:br>
                <a:rPr lang="en-CA" sz="1200" b="1" dirty="0" smtClean="0"/>
              </a:br>
              <a:r>
                <a:rPr lang="en-CA" sz="1200" b="1" dirty="0" smtClean="0"/>
                <a:t>	</a:t>
              </a:r>
              <a:r>
                <a:rPr lang="en-CA" sz="1200" b="1" dirty="0" err="1" smtClean="0"/>
                <a:t>Westlands</a:t>
              </a:r>
              <a:r>
                <a:rPr lang="en-CA" sz="1200" b="1" dirty="0" smtClean="0"/>
                <a:t>: 179K </a:t>
              </a:r>
              <a:endParaRPr lang="en-CA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CA" sz="1200" dirty="0" smtClean="0"/>
                <a:t>Eastleigh makes more than double what </a:t>
              </a:r>
              <a:r>
                <a:rPr lang="en-CA" sz="1200" dirty="0" err="1"/>
                <a:t>W</a:t>
              </a:r>
              <a:r>
                <a:rPr lang="en-CA" sz="1200" dirty="0" err="1" smtClean="0"/>
                <a:t>estlands</a:t>
              </a:r>
              <a:r>
                <a:rPr lang="en-CA" sz="1200" dirty="0" smtClean="0"/>
                <a:t> is generating. Which is where we should focus on right now.</a:t>
              </a:r>
              <a:endParaRPr lang="en-CA" sz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49381" y="1163784"/>
            <a:ext cx="4473759" cy="3385546"/>
            <a:chOff x="439567" y="801047"/>
            <a:chExt cx="4366702" cy="3385546"/>
          </a:xfrm>
        </p:grpSpPr>
        <p:sp>
          <p:nvSpPr>
            <p:cNvPr id="15" name="Rectangle 14"/>
            <p:cNvSpPr/>
            <p:nvPr/>
          </p:nvSpPr>
          <p:spPr>
            <a:xfrm>
              <a:off x="439567" y="801047"/>
              <a:ext cx="4366701" cy="338554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952" y="864120"/>
              <a:ext cx="4300317" cy="3209116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249381" y="670582"/>
            <a:ext cx="41407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i="1" dirty="0" smtClean="0">
                <a:solidFill>
                  <a:schemeClr val="bg1">
                    <a:lumMod val="50000"/>
                  </a:schemeClr>
                </a:solidFill>
              </a:rPr>
              <a:t>Eastleigh monthly growth rate for the past 6 months</a:t>
            </a:r>
            <a:endParaRPr lang="en-CA" sz="1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52126" y="3289725"/>
            <a:ext cx="65176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200" dirty="0" smtClean="0"/>
              <a:t>The GM did have some insight of what was going on in Eastleigh .</a:t>
            </a:r>
            <a:br>
              <a:rPr lang="en-CA" sz="1200" dirty="0" smtClean="0"/>
            </a:br>
            <a:r>
              <a:rPr lang="en-CA" sz="1200" dirty="0" smtClean="0"/>
              <a:t>It does happen to be the only location that has a good customer rating of </a:t>
            </a:r>
            <a:r>
              <a:rPr lang="en-CA" sz="1200" b="1" dirty="0" smtClean="0">
                <a:solidFill>
                  <a:srgbClr val="00642D"/>
                </a:solidFill>
              </a:rPr>
              <a:t>4.1</a:t>
            </a:r>
            <a:r>
              <a:rPr lang="en-CA" sz="1200" dirty="0" smtClean="0"/>
              <a:t> which is higher than its competitor's rating  3.8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Customers order </a:t>
            </a:r>
            <a:r>
              <a:rPr lang="en-US" sz="1200" dirty="0" err="1"/>
              <a:t>Pilau</a:t>
            </a:r>
            <a:r>
              <a:rPr lang="en-US" sz="1200" dirty="0"/>
              <a:t>, Samosa and </a:t>
            </a:r>
            <a:r>
              <a:rPr lang="en-US" sz="1200" dirty="0" err="1"/>
              <a:t>Mandazi</a:t>
            </a:r>
            <a:r>
              <a:rPr lang="en-US" sz="1200" dirty="0"/>
              <a:t> most frequently. This explains why </a:t>
            </a:r>
            <a:r>
              <a:rPr lang="en-US" sz="1200" dirty="0" err="1"/>
              <a:t>Eastleigh</a:t>
            </a:r>
            <a:r>
              <a:rPr lang="en-US" sz="1200" dirty="0"/>
              <a:t> </a:t>
            </a:r>
            <a:r>
              <a:rPr lang="en-US" sz="1200" dirty="0" smtClean="0"/>
              <a:t>might seem</a:t>
            </a:r>
            <a:r>
              <a:rPr lang="en-US" sz="1200" dirty="0"/>
              <a:t> to be </a:t>
            </a:r>
            <a:r>
              <a:rPr lang="en-US" sz="1200" b="1" dirty="0"/>
              <a:t>bleeding money</a:t>
            </a:r>
            <a:r>
              <a:rPr lang="en-US" sz="1200" dirty="0"/>
              <a:t>. Customers order the </a:t>
            </a:r>
            <a:r>
              <a:rPr lang="en-US" sz="1200" b="1" dirty="0"/>
              <a:t>cheap items</a:t>
            </a:r>
            <a:r>
              <a:rPr lang="en-US" sz="1200" dirty="0"/>
              <a:t> from the menu.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 highest </a:t>
            </a:r>
            <a:r>
              <a:rPr lang="en-US" sz="1200" b="1" dirty="0"/>
              <a:t>REVENUE</a:t>
            </a:r>
            <a:r>
              <a:rPr lang="en-US" sz="1200" dirty="0"/>
              <a:t> comes from </a:t>
            </a:r>
            <a:r>
              <a:rPr lang="en-US" sz="1200" b="1" dirty="0"/>
              <a:t>combos </a:t>
            </a:r>
            <a:r>
              <a:rPr lang="en-US" sz="1200" b="1" dirty="0" smtClean="0"/>
              <a:t>meals </a:t>
            </a:r>
            <a:r>
              <a:rPr lang="en-US" sz="1200" dirty="0" smtClean="0"/>
              <a:t>like </a:t>
            </a:r>
            <a:r>
              <a:rPr lang="en-US" sz="1200" b="1" dirty="0" smtClean="0"/>
              <a:t>Chicken</a:t>
            </a:r>
            <a:r>
              <a:rPr lang="en-US" sz="1200" b="1" dirty="0"/>
              <a:t> Biriyani + </a:t>
            </a:r>
            <a:r>
              <a:rPr lang="en-US" sz="1200" b="1" dirty="0" err="1"/>
              <a:t>Pilau</a:t>
            </a:r>
            <a:r>
              <a:rPr lang="en-US" sz="1200" dirty="0"/>
              <a:t> </a:t>
            </a:r>
            <a:r>
              <a:rPr lang="en-US" sz="1200" dirty="0" smtClean="0"/>
              <a:t>.</a:t>
            </a:r>
            <a:endParaRPr lang="en-US" sz="1200" dirty="0"/>
          </a:p>
          <a:p>
            <a:r>
              <a:rPr lang="en-CA" sz="1200" dirty="0" smtClean="0"/>
              <a:t/>
            </a:r>
            <a:br>
              <a:rPr lang="en-CA" sz="1200" dirty="0" smtClean="0"/>
            </a:br>
            <a:endParaRPr lang="en-CA" sz="1200" dirty="0"/>
          </a:p>
        </p:txBody>
      </p:sp>
      <p:grpSp>
        <p:nvGrpSpPr>
          <p:cNvPr id="22" name="Group 21"/>
          <p:cNvGrpSpPr/>
          <p:nvPr/>
        </p:nvGrpSpPr>
        <p:grpSpPr>
          <a:xfrm>
            <a:off x="5088398" y="745117"/>
            <a:ext cx="1115920" cy="353467"/>
            <a:chOff x="5972569" y="756705"/>
            <a:chExt cx="2143676" cy="418809"/>
          </a:xfrm>
        </p:grpSpPr>
        <p:sp>
          <p:nvSpPr>
            <p:cNvPr id="20" name="Shape 0"/>
            <p:cNvSpPr/>
            <p:nvPr/>
          </p:nvSpPr>
          <p:spPr>
            <a:xfrm>
              <a:off x="5972569" y="756705"/>
              <a:ext cx="2143676" cy="418809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53701" y="781443"/>
              <a:ext cx="16625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b="1" dirty="0" smtClean="0">
                  <a:solidFill>
                    <a:schemeClr val="bg1"/>
                  </a:solidFill>
                </a:rPr>
                <a:t>CFO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213628" y="2895776"/>
            <a:ext cx="1115920" cy="390211"/>
            <a:chOff x="5972569" y="756705"/>
            <a:chExt cx="2143676" cy="462345"/>
          </a:xfrm>
        </p:grpSpPr>
        <p:sp>
          <p:nvSpPr>
            <p:cNvPr id="24" name="Shape 0"/>
            <p:cNvSpPr/>
            <p:nvPr/>
          </p:nvSpPr>
          <p:spPr>
            <a:xfrm>
              <a:off x="5972569" y="756705"/>
              <a:ext cx="2143676" cy="418809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53701" y="781443"/>
              <a:ext cx="1662544" cy="437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b="1" dirty="0" smtClean="0">
                  <a:solidFill>
                    <a:schemeClr val="bg1"/>
                  </a:solidFill>
                </a:rPr>
                <a:t>GM</a:t>
              </a:r>
              <a:endParaRPr lang="en-CA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7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6677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960245" y="0"/>
            <a:ext cx="9838743" cy="491207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</a:t>
            </a:r>
            <a:r>
              <a:rPr lang="en-US" sz="24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QuickBite</a:t>
            </a:r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Expand Ghost Kitchen?  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32509" y="778373"/>
            <a:ext cx="11448894" cy="52445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/>
          <p:cNvSpPr/>
          <p:nvPr/>
        </p:nvSpPr>
        <p:spPr>
          <a:xfrm>
            <a:off x="412887" y="860030"/>
            <a:ext cx="11172031" cy="400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/>
          <p:cNvSpPr txBox="1"/>
          <p:nvPr/>
        </p:nvSpPr>
        <p:spPr>
          <a:xfrm>
            <a:off x="542387" y="1067646"/>
            <a:ext cx="80650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 smtClean="0"/>
              <a:t>Currently the overall profit margin is 13.4%.</a:t>
            </a:r>
            <a:br>
              <a:rPr lang="en-CA" sz="1400" dirty="0" smtClean="0"/>
            </a:br>
            <a:r>
              <a:rPr lang="en-CA" sz="1400" dirty="0" smtClean="0"/>
              <a:t>It might not be enough for a new 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/>
              <a:t>W</a:t>
            </a:r>
            <a:r>
              <a:rPr lang="en-CA" sz="1400" dirty="0" smtClean="0"/>
              <a:t>e need to focus on increasing revenue and profit in </a:t>
            </a:r>
            <a:r>
              <a:rPr lang="en-CA" sz="1400" dirty="0" err="1" smtClean="0"/>
              <a:t>Westlands</a:t>
            </a:r>
            <a:r>
              <a:rPr lang="en-CA" sz="1400" dirty="0" smtClean="0"/>
              <a:t>, that might look like Cutting down it’s the fixed cost, or it might look like relocating to a new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 err="1"/>
              <a:t>W</a:t>
            </a:r>
            <a:r>
              <a:rPr lang="en-CA" sz="1400" dirty="0" err="1" smtClean="0"/>
              <a:t>estlands</a:t>
            </a:r>
            <a:r>
              <a:rPr lang="en-CA" sz="1400" dirty="0" smtClean="0"/>
              <a:t> might be next issue to solve instead of expanding </a:t>
            </a:r>
            <a:endParaRPr lang="en-CA" sz="14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2445644" y="5080426"/>
            <a:ext cx="7682975" cy="866427"/>
            <a:chOff x="3274677" y="4645336"/>
            <a:chExt cx="6835373" cy="1005840"/>
          </a:xfrm>
        </p:grpSpPr>
        <p:sp>
          <p:nvSpPr>
            <p:cNvPr id="29" name="Shape 13"/>
            <p:cNvSpPr/>
            <p:nvPr/>
          </p:nvSpPr>
          <p:spPr>
            <a:xfrm>
              <a:off x="3274677" y="4645336"/>
              <a:ext cx="6835373" cy="1005840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FDE68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30" name="Text 16"/>
            <p:cNvSpPr/>
            <p:nvPr/>
          </p:nvSpPr>
          <p:spPr>
            <a:xfrm>
              <a:off x="3395160" y="4742632"/>
              <a:ext cx="6714889" cy="78138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b="1" i="1" dirty="0" smtClean="0"/>
                <a:t>Recommendation:</a:t>
              </a:r>
              <a:r>
                <a:rPr lang="en-US" sz="1100" dirty="0" smtClean="0"/>
                <a:t/>
              </a:r>
              <a:br>
                <a:rPr lang="en-US" sz="1100" dirty="0" smtClean="0"/>
              </a:br>
              <a:r>
                <a:rPr lang="en-US" sz="1100" b="1" dirty="0" smtClean="0"/>
                <a:t>Do not Expand</a:t>
              </a:r>
              <a:r>
                <a:rPr lang="en-US" sz="1100" dirty="0" smtClean="0"/>
                <a:t> right now Instead, Solve </a:t>
              </a:r>
              <a:r>
                <a:rPr lang="en-US" sz="1100" dirty="0" err="1" smtClean="0"/>
                <a:t>Westlands</a:t>
              </a:r>
              <a:r>
                <a:rPr lang="en-US" sz="1100" dirty="0" smtClean="0"/>
                <a:t> Urgent </a:t>
              </a:r>
              <a:r>
                <a:rPr lang="en-US" sz="1100" dirty="0"/>
                <a:t>Issue the </a:t>
              </a:r>
              <a:r>
                <a:rPr lang="en-US" sz="1100" b="1" dirty="0" smtClean="0"/>
                <a:t>high </a:t>
              </a:r>
              <a:r>
                <a:rPr lang="en-US" sz="1100" b="1" dirty="0"/>
                <a:t>fixed cost</a:t>
              </a:r>
              <a:r>
                <a:rPr lang="en-US" sz="1100" dirty="0"/>
                <a:t> and decrease </a:t>
              </a:r>
              <a:r>
                <a:rPr lang="en-US" sz="1100" dirty="0" smtClean="0"/>
                <a:t>in margins </a:t>
              </a:r>
              <a:r>
                <a:rPr lang="en-US" sz="1100" dirty="0" smtClean="0"/>
                <a:t>which might result to </a:t>
              </a:r>
              <a:r>
                <a:rPr lang="en-US" sz="1100" b="1" dirty="0" smtClean="0"/>
                <a:t>Relocating</a:t>
              </a:r>
              <a:r>
                <a:rPr lang="en-US" sz="1100" dirty="0" smtClean="0"/>
                <a:t> </a:t>
              </a:r>
              <a:r>
                <a:rPr lang="en-US" sz="1100" b="1" dirty="0" err="1" smtClean="0"/>
                <a:t>Westlands</a:t>
              </a:r>
              <a:r>
                <a:rPr lang="en-US" sz="1100" b="1" dirty="0" smtClean="0"/>
                <a:t> </a:t>
              </a:r>
              <a:r>
                <a:rPr lang="en-US" sz="1100" dirty="0" smtClean="0"/>
                <a:t>or end up expanding. </a:t>
              </a:r>
              <a:r>
                <a:rPr lang="en-US" sz="1100" b="1" dirty="0" smtClean="0"/>
                <a:t>Hold</a:t>
              </a:r>
              <a:r>
                <a:rPr lang="en-US" sz="1100" dirty="0" smtClean="0"/>
                <a:t> on Expanding Ghost Kitchen. </a:t>
              </a:r>
              <a:endParaRPr lang="en-US" sz="1100" dirty="0" smtClean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32265" y="2459805"/>
            <a:ext cx="4030419" cy="511452"/>
            <a:chOff x="8067404" y="2564745"/>
            <a:chExt cx="2940471" cy="589448"/>
          </a:xfrm>
        </p:grpSpPr>
        <p:sp>
          <p:nvSpPr>
            <p:cNvPr id="34" name="Shape 0"/>
            <p:cNvSpPr/>
            <p:nvPr/>
          </p:nvSpPr>
          <p:spPr>
            <a:xfrm>
              <a:off x="8067404" y="2564745"/>
              <a:ext cx="2940471" cy="589448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206928" y="2611086"/>
              <a:ext cx="2090469" cy="4256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 smtClean="0">
                  <a:solidFill>
                    <a:schemeClr val="bg1"/>
                  </a:solidFill>
                </a:rPr>
                <a:t>Priority for the next location</a:t>
              </a:r>
              <a:endParaRPr lang="en-CA" dirty="0">
                <a:solidFill>
                  <a:schemeClr val="bg1"/>
                </a:solidFill>
              </a:endParaRPr>
            </a:p>
          </p:txBody>
        </p:sp>
      </p:grpSp>
      <p:sp>
        <p:nvSpPr>
          <p:cNvPr id="37" name="Shape 13"/>
          <p:cNvSpPr/>
          <p:nvPr/>
        </p:nvSpPr>
        <p:spPr>
          <a:xfrm>
            <a:off x="632265" y="3033750"/>
            <a:ext cx="10469003" cy="1659162"/>
          </a:xfrm>
          <a:prstGeom prst="rect">
            <a:avLst/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8" name="TextBox 37"/>
          <p:cNvSpPr txBox="1"/>
          <p:nvPr/>
        </p:nvSpPr>
        <p:spPr>
          <a:xfrm>
            <a:off x="664536" y="3060824"/>
            <a:ext cx="899334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i="1" dirty="0" smtClean="0">
                <a:solidFill>
                  <a:schemeClr val="bg1">
                    <a:lumMod val="75000"/>
                  </a:schemeClr>
                </a:solidFill>
              </a:rPr>
              <a:t>This only applies if there is relocation or Expanding</a:t>
            </a:r>
            <a:endParaRPr lang="en-CA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400" b="1" dirty="0" smtClean="0"/>
              <a:t>Low Fixed cost. </a:t>
            </a:r>
            <a:r>
              <a:rPr lang="en-CA" sz="1400" dirty="0" smtClean="0"/>
              <a:t>Based on the findings we would want to avoid mistakes where like </a:t>
            </a:r>
            <a:r>
              <a:rPr lang="en-CA" sz="1400" dirty="0" err="1" smtClean="0"/>
              <a:t>westlands</a:t>
            </a:r>
            <a:r>
              <a:rPr lang="en-CA" sz="1400" dirty="0" smtClean="0"/>
              <a:t> we pay more than what we get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400" b="1" dirty="0" smtClean="0"/>
              <a:t>Low Competition. </a:t>
            </a:r>
            <a:r>
              <a:rPr lang="en-CA" sz="1400" dirty="0" smtClean="0"/>
              <a:t>Eastleigh a month the 3 locations has the least competition but with the </a:t>
            </a:r>
            <a:r>
              <a:rPr lang="en-CA" sz="1400" smtClean="0"/>
              <a:t>right market</a:t>
            </a:r>
            <a:r>
              <a:rPr lang="en-CA" sz="1600" dirty="0" smtClean="0"/>
              <a:t/>
            </a:r>
            <a:br>
              <a:rPr lang="en-CA" sz="1600" dirty="0" smtClean="0"/>
            </a:b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410167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81488" y="0"/>
            <a:ext cx="5780621" cy="49120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255108" y="98997"/>
            <a:ext cx="4307001" cy="2932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</a:rPr>
              <a:t>Menu Optimizations</a:t>
            </a:r>
            <a:endParaRPr lang="en-US" sz="24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925091" y="2406425"/>
            <a:ext cx="10357546" cy="1275165"/>
            <a:chOff x="2447827" y="1069411"/>
            <a:chExt cx="8826353" cy="1005082"/>
          </a:xfrm>
        </p:grpSpPr>
        <p:grpSp>
          <p:nvGrpSpPr>
            <p:cNvPr id="15" name="Group 14"/>
            <p:cNvGrpSpPr/>
            <p:nvPr/>
          </p:nvGrpSpPr>
          <p:grpSpPr>
            <a:xfrm>
              <a:off x="2447827" y="1069411"/>
              <a:ext cx="8826353" cy="1005082"/>
              <a:chOff x="3346759" y="4807753"/>
              <a:chExt cx="6835373" cy="1050876"/>
            </a:xfrm>
          </p:grpSpPr>
          <p:sp>
            <p:nvSpPr>
              <p:cNvPr id="25" name="Shape 13"/>
              <p:cNvSpPr/>
              <p:nvPr/>
            </p:nvSpPr>
            <p:spPr>
              <a:xfrm>
                <a:off x="3346759" y="4852789"/>
                <a:ext cx="6835373" cy="1005840"/>
              </a:xfrm>
              <a:prstGeom prst="rect">
                <a:avLst/>
              </a:prstGeom>
              <a:solidFill>
                <a:srgbClr val="FFF7ED"/>
              </a:solidFill>
              <a:ln w="12700">
                <a:solidFill>
                  <a:srgbClr val="FDE68A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26" name="Text 16"/>
              <p:cNvSpPr/>
              <p:nvPr/>
            </p:nvSpPr>
            <p:spPr>
              <a:xfrm>
                <a:off x="3426464" y="4807753"/>
                <a:ext cx="6570621" cy="99271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 dirty="0"/>
                  <a:t>1. </a:t>
                </a:r>
                <a:r>
                  <a:rPr lang="en-US" sz="1600" b="1" dirty="0"/>
                  <a:t>Introduce combo meals. </a:t>
                </a:r>
                <a:r>
                  <a:rPr lang="en-US" sz="1100" b="1" dirty="0" smtClean="0"/>
                  <a:t/>
                </a:r>
                <a:br>
                  <a:rPr lang="en-US" sz="1100" b="1" dirty="0" smtClean="0"/>
                </a:br>
                <a:r>
                  <a:rPr lang="en-US" sz="1100" dirty="0" err="1"/>
                  <a:t>Eastleigh</a:t>
                </a:r>
                <a:r>
                  <a:rPr lang="en-US" sz="1100" dirty="0"/>
                  <a:t> customers seem to order a lot of items that are cheap on the menu. This results to least increase in The revenue compared to </a:t>
                </a:r>
                <a:r>
                  <a:rPr lang="en-US" sz="1100" dirty="0" err="1"/>
                  <a:t>Kilimani</a:t>
                </a:r>
                <a:r>
                  <a:rPr lang="en-US" sz="1100" dirty="0"/>
                  <a:t/>
                </a:r>
                <a:br>
                  <a:rPr lang="en-US" sz="1100" dirty="0"/>
                </a:br>
                <a:r>
                  <a:rPr lang="en-US" sz="1100" dirty="0" err="1"/>
                  <a:t>Eastleigh</a:t>
                </a:r>
                <a:r>
                  <a:rPr lang="en-US" sz="1100" dirty="0"/>
                  <a:t> has a high customer rating so the customers love them, so they should take advantage that Test combo meals, especially during the </a:t>
                </a:r>
                <a:r>
                  <a:rPr lang="en-US" sz="1100" b="1" dirty="0"/>
                  <a:t>weekends and peak hours </a:t>
                </a:r>
                <a:r>
                  <a:rPr lang="en-US" sz="1100" b="1" dirty="0" smtClean="0"/>
                  <a:t>(8pm-9pm)</a:t>
                </a:r>
                <a:r>
                  <a:rPr lang="en-US" sz="1100" dirty="0" smtClean="0"/>
                  <a:t/>
                </a:r>
                <a:br>
                  <a:rPr lang="en-US" sz="1100" dirty="0" smtClean="0"/>
                </a:br>
                <a:r>
                  <a:rPr lang="en-US" sz="1100" dirty="0" smtClean="0"/>
                  <a:t>Combo meals like </a:t>
                </a:r>
                <a:r>
                  <a:rPr lang="en-US" sz="1100" b="1" dirty="0" err="1" smtClean="0"/>
                  <a:t>Pilau</a:t>
                </a:r>
                <a:r>
                  <a:rPr lang="en-US" sz="1100" b="1" dirty="0" smtClean="0"/>
                  <a:t> + Chicken Biriyani </a:t>
                </a:r>
                <a:r>
                  <a:rPr lang="en-US" sz="1100" dirty="0" smtClean="0"/>
                  <a:t>since they both contribute as top revenue generators when combined. This would Increase the </a:t>
                </a:r>
                <a:r>
                  <a:rPr lang="en-US" sz="1100" dirty="0" err="1" smtClean="0"/>
                  <a:t>AoV</a:t>
                </a:r>
                <a:r>
                  <a:rPr lang="en-US" sz="1100" dirty="0" smtClean="0"/>
                  <a:t> from KES 549.</a:t>
                </a:r>
                <a:endParaRPr lang="en-US" sz="1100" dirty="0"/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2482734" y="1128731"/>
              <a:ext cx="68014" cy="929514"/>
            </a:xfrm>
            <a:prstGeom prst="rect">
              <a:avLst/>
            </a:prstGeom>
            <a:solidFill>
              <a:srgbClr val="0D948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925092" y="3893475"/>
            <a:ext cx="10357546" cy="920350"/>
            <a:chOff x="839082" y="3805623"/>
            <a:chExt cx="8826353" cy="962008"/>
          </a:xfrm>
        </p:grpSpPr>
        <p:sp>
          <p:nvSpPr>
            <p:cNvPr id="27" name="Shape 13"/>
            <p:cNvSpPr/>
            <p:nvPr/>
          </p:nvSpPr>
          <p:spPr>
            <a:xfrm>
              <a:off x="839082" y="3805623"/>
              <a:ext cx="8826353" cy="962008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FDE68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r>
                <a:rPr lang="en-CA" sz="1600" b="1" dirty="0" smtClean="0"/>
                <a:t>2. Fix Delivery Time.</a:t>
              </a:r>
              <a:br>
                <a:rPr lang="en-CA" sz="1600" b="1" dirty="0" smtClean="0"/>
              </a:br>
              <a:r>
                <a:rPr lang="en-CA" sz="1200" dirty="0" smtClean="0"/>
                <a:t>The Delivery time problem seems to be affecting all three locations. Which affects each locations rating . </a:t>
              </a:r>
              <a:r>
                <a:rPr lang="en-CA" sz="1200" dirty="0"/>
                <a:t>By Hiring more </a:t>
              </a:r>
              <a:r>
                <a:rPr lang="en-CA" sz="1200" dirty="0" smtClean="0"/>
                <a:t>drivers this could lead to Fast </a:t>
              </a:r>
              <a:r>
                <a:rPr lang="en-CA" sz="1200" dirty="0" smtClean="0"/>
                <a:t>Delivery which may improve customer ratings and increase in Order volume hence more revenue. </a:t>
              </a:r>
              <a:endParaRPr lang="en-CA" sz="1200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839082" y="3821870"/>
              <a:ext cx="68014" cy="929514"/>
            </a:xfrm>
            <a:prstGeom prst="rect">
              <a:avLst/>
            </a:prstGeom>
            <a:solidFill>
              <a:srgbClr val="0D948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925091" y="4972522"/>
            <a:ext cx="10357546" cy="1042869"/>
            <a:chOff x="839082" y="3805623"/>
            <a:chExt cx="8826353" cy="962008"/>
          </a:xfrm>
        </p:grpSpPr>
        <p:sp>
          <p:nvSpPr>
            <p:cNvPr id="30" name="Shape 13"/>
            <p:cNvSpPr/>
            <p:nvPr/>
          </p:nvSpPr>
          <p:spPr>
            <a:xfrm>
              <a:off x="839082" y="3805623"/>
              <a:ext cx="8826353" cy="962008"/>
            </a:xfrm>
            <a:prstGeom prst="rect">
              <a:avLst/>
            </a:prstGeom>
            <a:solidFill>
              <a:srgbClr val="FFF7ED"/>
            </a:solidFill>
            <a:ln w="12700">
              <a:solidFill>
                <a:srgbClr val="FDE68A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CA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39082" y="3821870"/>
              <a:ext cx="68014" cy="929514"/>
            </a:xfrm>
            <a:prstGeom prst="rect">
              <a:avLst/>
            </a:prstGeom>
            <a:solidFill>
              <a:srgbClr val="0D948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40983"/>
              </p:ext>
            </p:extLst>
          </p:nvPr>
        </p:nvGraphicFramePr>
        <p:xfrm>
          <a:off x="925091" y="620040"/>
          <a:ext cx="10357545" cy="1916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163"/>
                <a:gridCol w="2921191"/>
                <a:gridCol w="2021713"/>
                <a:gridCol w="1800739"/>
                <a:gridCol w="1800739"/>
              </a:tblGrid>
              <a:tr h="380789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Location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Most</a:t>
                      </a:r>
                      <a:r>
                        <a:rPr lang="en-CA" sz="1400" baseline="0" dirty="0" smtClean="0"/>
                        <a:t> ordered Items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Top Revenue Items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Average Delivery Time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400" dirty="0" err="1" smtClean="0"/>
                        <a:t>AoV</a:t>
                      </a:r>
                      <a:endParaRPr lang="en-CA" sz="1400" dirty="0"/>
                    </a:p>
                  </a:txBody>
                  <a:tcPr/>
                </a:tc>
              </a:tr>
              <a:tr h="470386">
                <a:tc>
                  <a:txBody>
                    <a:bodyPr/>
                    <a:lstStyle/>
                    <a:p>
                      <a:r>
                        <a:rPr lang="en-CA" sz="1400" dirty="0" err="1" smtClean="0"/>
                        <a:t>Kilimani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CA" sz="12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Nyama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2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Choma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Chicken Biriyani,</a:t>
                      </a:r>
                      <a:r>
                        <a:rPr lang="en-CA" sz="1200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200" u="none" strike="noStrike" kern="1200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Pilau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r>
                        <a:rPr lang="en-CA" sz="1200" u="none" strike="noStrike" dirty="0" err="1" smtClean="0">
                          <a:effectLst/>
                        </a:rPr>
                        <a:t>Nyama</a:t>
                      </a:r>
                      <a:r>
                        <a:rPr lang="en-CA" sz="1200" u="none" strike="noStrike" dirty="0" smtClean="0">
                          <a:effectLst/>
                        </a:rPr>
                        <a:t> </a:t>
                      </a:r>
                      <a:r>
                        <a:rPr lang="en-CA" sz="1200" u="none" strike="noStrike" dirty="0" err="1" smtClean="0">
                          <a:effectLst/>
                        </a:rPr>
                        <a:t>Choma</a:t>
                      </a:r>
                      <a:r>
                        <a:rPr lang="en-CA" sz="1200" u="none" strike="noStrike" dirty="0" smtClean="0">
                          <a:effectLst/>
                        </a:rPr>
                        <a:t> | Chicken Biriyani| </a:t>
                      </a:r>
                      <a:r>
                        <a:rPr lang="en-CA" sz="1200" u="none" strike="noStrike" dirty="0" err="1" smtClean="0">
                          <a:effectLst/>
                        </a:rPr>
                        <a:t>Pilau</a:t>
                      </a:r>
                      <a:endParaRPr lang="en-C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 minutes</a:t>
                      </a:r>
                      <a:endParaRPr lang="en-CA" sz="1200" b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KES 788</a:t>
                      </a:r>
                      <a:endParaRPr lang="en-CA" sz="1200" b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70386">
                <a:tc>
                  <a:txBody>
                    <a:bodyPr/>
                    <a:lstStyle/>
                    <a:p>
                      <a:r>
                        <a:rPr lang="en-CA" sz="1400" dirty="0" err="1" smtClean="0"/>
                        <a:t>Westlands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Samosa(6), Chicken Biriyani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Nyama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2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Choma|Chicken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2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Biryani|Samosa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 minutes</a:t>
                      </a:r>
                      <a:endParaRPr lang="en-CA" sz="1200" b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KES 716</a:t>
                      </a:r>
                    </a:p>
                    <a:p>
                      <a:pPr marL="0" algn="l" defTabSz="914400" rtl="0" eaLnBrk="1" latinLnBrk="0" hangingPunct="1"/>
                      <a:endParaRPr lang="en-CA" sz="1200" b="1" u="none" strike="noStrike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35990">
                <a:tc>
                  <a:txBody>
                    <a:bodyPr/>
                    <a:lstStyle/>
                    <a:p>
                      <a:r>
                        <a:rPr lang="en-CA" sz="1400" dirty="0" smtClean="0"/>
                        <a:t>Eastleigh</a:t>
                      </a:r>
                      <a:endParaRPr lang="en-CA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CA" sz="12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Pilau</a:t>
                      </a:r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Samosa,</a:t>
                      </a:r>
                      <a:r>
                        <a:rPr lang="en-CA" sz="1200" u="none" strike="noStrike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CA" sz="1200" u="none" strike="noStrike" kern="1200" baseline="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Mandazi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2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Chicken Biriyani | </a:t>
                      </a:r>
                      <a:r>
                        <a:rPr lang="en-CA" sz="1200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Pilau</a:t>
                      </a:r>
                      <a:endParaRPr lang="en-CA" sz="12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 minutes</a:t>
                      </a:r>
                      <a:endParaRPr lang="en-CA" sz="1200" b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200" b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KES 549</a:t>
                      </a:r>
                    </a:p>
                    <a:p>
                      <a:pPr marL="0" algn="l" defTabSz="914400" rtl="0" eaLnBrk="1" latinLnBrk="0" hangingPunct="1"/>
                      <a:endParaRPr lang="en-CA" sz="1200" b="1" u="none" strike="noStrike" kern="1200" dirty="0">
                        <a:solidFill>
                          <a:srgbClr val="00642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003038" y="5040964"/>
            <a:ext cx="981862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dirty="0" smtClean="0"/>
              <a:t>3. Customize the menu based on the market.</a:t>
            </a:r>
            <a:br>
              <a:rPr lang="en-CA" b="1" dirty="0" smtClean="0"/>
            </a:br>
            <a:r>
              <a:rPr lang="en-CA" sz="1200" dirty="0" smtClean="0"/>
              <a:t>Customers in Eastleigh have a lower order volume In items like </a:t>
            </a:r>
            <a:r>
              <a:rPr lang="en-CA" sz="1200" dirty="0" err="1" smtClean="0"/>
              <a:t>Nyama</a:t>
            </a:r>
            <a:r>
              <a:rPr lang="en-CA" sz="1200" dirty="0" smtClean="0"/>
              <a:t> </a:t>
            </a:r>
            <a:r>
              <a:rPr lang="en-CA" sz="1200" dirty="0" err="1" smtClean="0"/>
              <a:t>Choma</a:t>
            </a:r>
            <a:r>
              <a:rPr lang="en-CA" sz="1200" dirty="0" smtClean="0"/>
              <a:t> Platter. Concentrate on what they already like (</a:t>
            </a:r>
            <a:r>
              <a:rPr lang="en-CA" sz="1200" dirty="0" err="1"/>
              <a:t>P</a:t>
            </a:r>
            <a:r>
              <a:rPr lang="en-CA" sz="1200" dirty="0" err="1" smtClean="0"/>
              <a:t>ilau</a:t>
            </a:r>
            <a:r>
              <a:rPr lang="en-CA" sz="1200" dirty="0" smtClean="0"/>
              <a:t> and Biriyani) but also test out new dishes. Eastleigh is a Swahili/Somali cultured place. </a:t>
            </a:r>
            <a:r>
              <a:rPr lang="en-CA" sz="1200" b="1" dirty="0" smtClean="0"/>
              <a:t>Test new dishes like Shawarmas. </a:t>
            </a:r>
            <a:r>
              <a:rPr lang="en-CA" sz="1200" dirty="0" smtClean="0"/>
              <a:t>This will increase Revenue and Total Orders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4318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1261</TotalTime>
  <Words>395</Words>
  <Application>Microsoft Office PowerPoint</Application>
  <PresentationFormat>Widescreen</PresentationFormat>
  <Paragraphs>88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Agency FB</vt:lpstr>
      <vt:lpstr>Arial</vt:lpstr>
      <vt:lpstr>Calibri</vt:lpstr>
      <vt:lpstr>Calibri Light</vt:lpstr>
      <vt:lpstr>Century Gothic</vt:lpstr>
      <vt:lpstr>Georgia</vt:lpstr>
      <vt:lpstr>Wingdings 3</vt:lpstr>
      <vt:lpstr>Ion</vt:lpstr>
      <vt:lpstr>Retrospect</vt:lpstr>
      <vt:lpstr>GHOST KITCHEN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54</cp:revision>
  <dcterms:created xsi:type="dcterms:W3CDTF">2026-02-23T14:16:46Z</dcterms:created>
  <dcterms:modified xsi:type="dcterms:W3CDTF">2026-02-24T11:18:01Z</dcterms:modified>
</cp:coreProperties>
</file>